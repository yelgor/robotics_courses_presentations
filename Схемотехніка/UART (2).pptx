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19"/>
  </p:notesMasterIdLst>
  <p:sldIdLst>
    <p:sldId id="443" r:id="rId5"/>
    <p:sldId id="461" r:id="rId6"/>
    <p:sldId id="462" r:id="rId7"/>
    <p:sldId id="463" r:id="rId8"/>
    <p:sldId id="464" r:id="rId9"/>
    <p:sldId id="465" r:id="rId10"/>
    <p:sldId id="469" r:id="rId11"/>
    <p:sldId id="470" r:id="rId12"/>
    <p:sldId id="472" r:id="rId13"/>
    <p:sldId id="467" r:id="rId14"/>
    <p:sldId id="471" r:id="rId15"/>
    <p:sldId id="468" r:id="rId16"/>
    <p:sldId id="473" r:id="rId17"/>
    <p:sldId id="363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0B8"/>
    <a:srgbClr val="BFBEBE"/>
    <a:srgbClr val="706F6F"/>
    <a:srgbClr val="999998"/>
    <a:srgbClr val="9E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27" autoAdjust="0"/>
  </p:normalViewPr>
  <p:slideViewPr>
    <p:cSldViewPr showGuides="1">
      <p:cViewPr varScale="1">
        <p:scale>
          <a:sx n="113" d="100"/>
          <a:sy n="113" d="100"/>
        </p:scale>
        <p:origin x="432" y="84"/>
      </p:cViewPr>
      <p:guideLst/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245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87501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400049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091102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39631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62407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330277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88044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95332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32917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029984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86034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119760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0678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45762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029872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431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68" r:id="rId9"/>
    <p:sldLayoutId id="2147483745" r:id="rId10"/>
    <p:sldLayoutId id="2147483746" r:id="rId11"/>
    <p:sldLayoutId id="2147483769" r:id="rId12"/>
    <p:sldLayoutId id="2147483747" r:id="rId13"/>
    <p:sldLayoutId id="2147483748" r:id="rId14"/>
    <p:sldLayoutId id="2147483771" r:id="rId15"/>
    <p:sldLayoutId id="2147483750" r:id="rId16"/>
    <p:sldLayoutId id="2147483751" r:id="rId17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890" userDrawn="1">
          <p15:clr>
            <a:srgbClr val="F26B43"/>
          </p15:clr>
        </p15:guide>
        <p15:guide id="8" orient="horz" pos="618" userDrawn="1">
          <p15:clr>
            <a:srgbClr val="F26B43"/>
          </p15:clr>
        </p15:guide>
        <p15:guide id="9" orient="horz" pos="346" userDrawn="1">
          <p15:clr>
            <a:srgbClr val="F26B43"/>
          </p15:clr>
        </p15:guide>
        <p15:guide id="10" orient="horz" pos="4201" userDrawn="1">
          <p15:clr>
            <a:srgbClr val="F26B43"/>
          </p15:clr>
        </p15:guide>
        <p15:guide id="11" orient="horz" pos="709" userDrawn="1">
          <p15:clr>
            <a:srgbClr val="F26B43"/>
          </p15:clr>
        </p15:guide>
        <p15:guide id="12" orient="horz" pos="3984" userDrawn="1">
          <p15:clr>
            <a:srgbClr val="F26B43"/>
          </p15:clr>
        </p15:guide>
        <p15:guide id="13" pos="52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プレースホルダー 12" descr="屋外, 建物, 市, 光 が含まれている画像&#10;&#10;自動的に生成された説明">
            <a:extLst>
              <a:ext uri="{FF2B5EF4-FFF2-40B4-BE49-F238E27FC236}">
                <a16:creationId xmlns:a16="http://schemas.microsoft.com/office/drawing/2014/main" id="{03C3B1F7-CC17-7888-BCB8-16151EE3701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" b="1374"/>
          <a:stretch/>
        </p:blipFill>
        <p:spPr>
          <a:xfrm>
            <a:off x="479425" y="9525"/>
            <a:ext cx="11253788" cy="6156325"/>
          </a:xfrm>
          <a:prstGeom prst="rect">
            <a:avLst/>
          </a:prstGeom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006131E-FB56-425D-89D8-786378BA6F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0000" y="1052736"/>
            <a:ext cx="7968328" cy="1872208"/>
          </a:xfrm>
        </p:spPr>
        <p:txBody>
          <a:bodyPr/>
          <a:lstStyle/>
          <a:p>
            <a:r>
              <a:rPr lang="uk-UA" altLang="ja-JP" dirty="0"/>
              <a:t>Цифрова схемотехніка</a:t>
            </a:r>
            <a:endParaRPr lang="en-US" altLang="ja-JP" dirty="0"/>
          </a:p>
          <a:p>
            <a:pPr lvl="1"/>
            <a:r>
              <a:rPr lang="uk-UA" altLang="ja-JP" dirty="0"/>
              <a:t>Заняття 8</a:t>
            </a:r>
            <a:r>
              <a:rPr lang="en-US" altLang="ja-JP" dirty="0"/>
              <a:t>. </a:t>
            </a:r>
            <a:r>
              <a:rPr lang="uk-UA" altLang="ja-JP" dirty="0"/>
              <a:t>Інтерфейси пристоїв для роботи з мікросхемами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2958467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46C7-29C7-E1DD-5941-48D2BE80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</a:t>
            </a:r>
            <a:r>
              <a:rPr lang="uk-UA" dirty="0"/>
              <a:t>інтрфейс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D727-653E-1FA0-60B5-9FFD1C1C3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024" y="1194169"/>
            <a:ext cx="11244574" cy="1745606"/>
          </a:xfrm>
        </p:spPr>
        <p:txBody>
          <a:bodyPr/>
          <a:lstStyle/>
          <a:p>
            <a:r>
              <a:rPr lang="uk-UA" dirty="0"/>
              <a:t>Перший </a:t>
            </a:r>
            <a:r>
              <a:rPr lang="en-US" dirty="0"/>
              <a:t>UART (</a:t>
            </a:r>
            <a:r>
              <a:rPr lang="uk-UA" dirty="0"/>
              <a:t>універсальний асинхронний приймач-передавач) був розроблений Гордоном Беллом з компанії </a:t>
            </a:r>
            <a:r>
              <a:rPr lang="en-US" dirty="0"/>
              <a:t>Digital Equipment Corporation (DEC) </a:t>
            </a:r>
            <a:r>
              <a:rPr lang="uk-UA" dirty="0"/>
              <a:t>для комп'ютерів серії </a:t>
            </a:r>
            <a:r>
              <a:rPr lang="en-US" dirty="0"/>
              <a:t>PDP, </a:t>
            </a:r>
            <a:r>
              <a:rPr lang="uk-UA" dirty="0"/>
              <a:t>починаючи з </a:t>
            </a:r>
            <a:r>
              <a:rPr lang="en-US" dirty="0"/>
              <a:t>PDP-1. UART </a:t>
            </a:r>
            <a:r>
              <a:rPr lang="uk-UA" dirty="0"/>
              <a:t>займав цілу плату і називався "</a:t>
            </a:r>
            <a:r>
              <a:rPr lang="en-US" dirty="0"/>
              <a:t>line unit". </a:t>
            </a:r>
            <a:r>
              <a:rPr lang="uk-UA" dirty="0"/>
              <a:t>Основною інновацією цього пристрою було використання семплування для перетворення сигналу в цифрову форму, що забезпечувало більш надійну синхронізацію в порівнянні з попередніми аналоговими схемами. Пізніше </a:t>
            </a:r>
            <a:r>
              <a:rPr lang="en-US" dirty="0"/>
              <a:t>DEC </a:t>
            </a:r>
            <a:r>
              <a:rPr lang="uk-UA" dirty="0"/>
              <a:t>перетворила дизайн "</a:t>
            </a:r>
            <a:r>
              <a:rPr lang="en-US" dirty="0"/>
              <a:t>line unit" </a:t>
            </a:r>
            <a:r>
              <a:rPr lang="uk-UA" dirty="0"/>
              <a:t>в ранню одночіпову версію </a:t>
            </a:r>
            <a:r>
              <a:rPr lang="en-US" dirty="0"/>
              <a:t>UART </a:t>
            </a:r>
            <a:r>
              <a:rPr lang="uk-UA" dirty="0"/>
              <a:t>для власного використання. Компанія </a:t>
            </a:r>
            <a:r>
              <a:rPr lang="en-US" dirty="0"/>
              <a:t>Western Digital </a:t>
            </a:r>
            <a:r>
              <a:rPr lang="uk-UA" dirty="0"/>
              <a:t>розробила перший широко доступний одночіповий </a:t>
            </a:r>
            <a:r>
              <a:rPr lang="en-US" dirty="0"/>
              <a:t>UART, </a:t>
            </a:r>
            <a:r>
              <a:rPr lang="uk-UA" dirty="0"/>
              <a:t>відомий як </a:t>
            </a:r>
            <a:r>
              <a:rPr lang="en-US" dirty="0"/>
              <a:t>WD1402A, </a:t>
            </a:r>
            <a:r>
              <a:rPr lang="uk-UA" dirty="0"/>
              <a:t>приблизно в 1971 році.</a:t>
            </a:r>
            <a:endParaRPr lang="en-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95E15-EC17-CF8D-CCAB-917E53990831}"/>
              </a:ext>
            </a:extLst>
          </p:cNvPr>
          <p:cNvSpPr txBox="1"/>
          <p:nvPr/>
        </p:nvSpPr>
        <p:spPr>
          <a:xfrm>
            <a:off x="464024" y="2954583"/>
            <a:ext cx="110892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b="1" dirty="0"/>
              <a:t>Мета створення:</a:t>
            </a:r>
            <a:br>
              <a:rPr lang="en-US" sz="1800" b="1" dirty="0"/>
            </a:br>
            <a:r>
              <a:rPr lang="uk-UA" dirty="0"/>
              <a:t>- Спрощення методів комунікації комп’ютерної периферії</a:t>
            </a:r>
            <a:br>
              <a:rPr lang="en-US" dirty="0"/>
            </a:br>
            <a:r>
              <a:rPr lang="en-US" dirty="0"/>
              <a:t>-</a:t>
            </a:r>
            <a:r>
              <a:rPr lang="uk-UA" dirty="0"/>
              <a:t> Стандартизація </a:t>
            </a:r>
            <a:r>
              <a:rPr lang="ru-RU" dirty="0"/>
              <a:t>зв'язку між різними типами електронних пристро</a:t>
            </a:r>
            <a:r>
              <a:rPr lang="uk-UA" dirty="0"/>
              <a:t>їв</a:t>
            </a:r>
          </a:p>
          <a:p>
            <a:r>
              <a:rPr lang="uk-UA" dirty="0"/>
              <a:t>- </a:t>
            </a:r>
            <a:r>
              <a:rPr lang="ru-RU" dirty="0"/>
              <a:t>Зменшення кількості з'єднувальних ліній для передачі даних</a:t>
            </a:r>
            <a:endParaRPr lang="uk-UA" dirty="0"/>
          </a:p>
          <a:p>
            <a:endParaRPr lang="en-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848E1-C1E0-D9FF-1D7A-CBB8066AC428}"/>
              </a:ext>
            </a:extLst>
          </p:cNvPr>
          <p:cNvSpPr txBox="1"/>
          <p:nvPr/>
        </p:nvSpPr>
        <p:spPr>
          <a:xfrm>
            <a:off x="464024" y="4149080"/>
            <a:ext cx="46862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b="1" dirty="0"/>
              <a:t>Особливості протоколу</a:t>
            </a:r>
            <a:r>
              <a:rPr lang="uk-UA" b="1" dirty="0"/>
              <a:t> </a:t>
            </a:r>
            <a:r>
              <a:rPr lang="en-US" b="1" dirty="0"/>
              <a:t>UART</a:t>
            </a:r>
            <a:br>
              <a:rPr lang="en-US" sz="1800" dirty="0"/>
            </a:br>
            <a:r>
              <a:rPr lang="uk-UA" sz="1800" dirty="0"/>
              <a:t>1. </a:t>
            </a:r>
            <a:r>
              <a:rPr lang="uk-UA" sz="1800" b="1" dirty="0"/>
              <a:t>Кількість ліній:</a:t>
            </a:r>
            <a:br>
              <a:rPr lang="uk-UA" sz="1800" dirty="0"/>
            </a:br>
            <a:r>
              <a:rPr lang="uk-UA" sz="1800" dirty="0"/>
              <a:t>- </a:t>
            </a:r>
            <a:r>
              <a:rPr lang="en-US" dirty="0"/>
              <a:t>Rx</a:t>
            </a:r>
            <a:r>
              <a:rPr lang="en-US" sz="1800" dirty="0"/>
              <a:t>(</a:t>
            </a:r>
            <a:r>
              <a:rPr lang="en-US" dirty="0"/>
              <a:t>Receive</a:t>
            </a:r>
            <a:r>
              <a:rPr lang="en-US" sz="1800" dirty="0"/>
              <a:t>) — </a:t>
            </a:r>
            <a:r>
              <a:rPr lang="uk-UA" sz="1800" dirty="0"/>
              <a:t>лінія </a:t>
            </a:r>
            <a:r>
              <a:rPr lang="uk-UA" dirty="0"/>
              <a:t>приймання </a:t>
            </a:r>
            <a:r>
              <a:rPr lang="uk-UA" sz="1800" dirty="0"/>
              <a:t>даних</a:t>
            </a:r>
            <a:br>
              <a:rPr lang="uk-UA" sz="1800" dirty="0"/>
            </a:br>
            <a:r>
              <a:rPr lang="uk-UA" sz="1800" dirty="0"/>
              <a:t>- </a:t>
            </a:r>
            <a:r>
              <a:rPr lang="en-US" sz="1800" dirty="0"/>
              <a:t>Tx(</a:t>
            </a:r>
            <a:r>
              <a:rPr lang="en-US" dirty="0"/>
              <a:t>Transmit</a:t>
            </a:r>
            <a:r>
              <a:rPr lang="en-US" sz="1800" dirty="0"/>
              <a:t>) — </a:t>
            </a:r>
            <a:r>
              <a:rPr lang="uk-UA" sz="1800" dirty="0"/>
              <a:t>лінія передачі даних</a:t>
            </a:r>
          </a:p>
          <a:p>
            <a:r>
              <a:rPr lang="uk-UA" sz="1800" dirty="0"/>
              <a:t>2. </a:t>
            </a:r>
            <a:r>
              <a:rPr lang="uk-UA" sz="1800" b="1" dirty="0"/>
              <a:t>Тип зв'язку:</a:t>
            </a:r>
            <a:r>
              <a:rPr lang="uk-UA" sz="1800" dirty="0"/>
              <a:t> Послідовний синхронний</a:t>
            </a:r>
          </a:p>
          <a:p>
            <a:r>
              <a:rPr lang="uk-UA" dirty="0"/>
              <a:t>3.</a:t>
            </a:r>
            <a:r>
              <a:rPr lang="ru-RU" b="1" dirty="0"/>
              <a:t> Синхронізація</a:t>
            </a:r>
            <a:r>
              <a:rPr lang="ru-RU" dirty="0"/>
              <a:t>:</a:t>
            </a:r>
          </a:p>
          <a:p>
            <a:r>
              <a:rPr lang="ru-RU" dirty="0"/>
              <a:t>- Не потребує зовнішнього тактового сигналу, синхронізація відбувається через встановлену швидкість передачі </a:t>
            </a:r>
          </a:p>
          <a:p>
            <a:endParaRPr lang="uk-UA" sz="1800" dirty="0"/>
          </a:p>
          <a:p>
            <a:endParaRPr lang="uk-UA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C0261-0D10-918C-F070-8C53EE412FE5}"/>
              </a:ext>
            </a:extLst>
          </p:cNvPr>
          <p:cNvSpPr txBox="1"/>
          <p:nvPr/>
        </p:nvSpPr>
        <p:spPr>
          <a:xfrm>
            <a:off x="5150233" y="4581128"/>
            <a:ext cx="67361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4</a:t>
            </a:r>
            <a:r>
              <a:rPr lang="uk-UA" sz="1800" dirty="0"/>
              <a:t>. </a:t>
            </a:r>
            <a:r>
              <a:rPr lang="uk-UA" b="1" dirty="0"/>
              <a:t>Системи управління потоком</a:t>
            </a:r>
            <a:r>
              <a:rPr lang="uk-UA" sz="1800" b="1" dirty="0"/>
              <a:t>:</a:t>
            </a:r>
            <a:br>
              <a:rPr lang="uk-UA" sz="1800" dirty="0"/>
            </a:br>
            <a:r>
              <a:rPr lang="en-US" sz="1800" dirty="0"/>
              <a:t>- </a:t>
            </a:r>
            <a:r>
              <a:rPr lang="ru-RU" dirty="0"/>
              <a:t>Підтримує апаратний або програмний контроль потоку для запобігання втраті даних </a:t>
            </a:r>
            <a:r>
              <a:rPr lang="en-US" dirty="0"/>
              <a:t> </a:t>
            </a:r>
            <a:r>
              <a:rPr lang="ru-RU" dirty="0"/>
              <a:t>при високих швидкостях передачі (наприклад, через RTS/CTS).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298448158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D52D-3123-6FE7-FAB7-40683168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</a:t>
            </a:r>
            <a:r>
              <a:rPr lang="uk-UA" dirty="0"/>
              <a:t>інтрфейс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AFCE-0F5A-8985-7188-5A4F8726A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13" y="1412776"/>
            <a:ext cx="11244574" cy="3674339"/>
          </a:xfrm>
        </p:spPr>
        <p:txBody>
          <a:bodyPr/>
          <a:lstStyle/>
          <a:p>
            <a:r>
              <a:rPr lang="ru-RU" b="1" dirty="0"/>
              <a:t>Пристрої, що використовують UART:</a:t>
            </a:r>
            <a:endParaRPr 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Модеми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передачі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даних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через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телефонні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лінії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GPS-</a:t>
            </a: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приймачі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передачі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даних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місцезнаходження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Мікроконтролери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обміну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даними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з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периферійними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пристроями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Автомобільні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обміну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даними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між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різними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електронними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компонентами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Bluetooth-</a:t>
            </a: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модулі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забезпечення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бездротової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передачі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даних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між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пристроями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Інтерфейси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програмування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налаштування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програмування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мікроконтролерів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моніторингу</a:t>
            </a:r>
            <a:r>
              <a:rPr kumimoji="0" lang="en-150" altLang="en-150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передачі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даних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з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різних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датчиків</a:t>
            </a:r>
            <a:r>
              <a:rPr kumimoji="0" lang="en-150" altLang="en-150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72699692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4F3B-5EE2-67A2-7A47-B7B4D641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 wrap="square" anchor="b">
            <a:normAutofit/>
          </a:bodyPr>
          <a:lstStyle/>
          <a:p>
            <a:r>
              <a:rPr lang="uk-UA" dirty="0"/>
              <a:t>Приклад використання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79DEA9-FF25-8A24-AFE0-0716343FF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336" y="3717032"/>
            <a:ext cx="3165989" cy="28991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60B331-69E8-25FA-EDCC-98F56FB9BB2E}"/>
              </a:ext>
            </a:extLst>
          </p:cNvPr>
          <p:cNvSpPr txBox="1"/>
          <p:nvPr/>
        </p:nvSpPr>
        <p:spPr>
          <a:xfrm>
            <a:off x="3647728" y="5305998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Лінія даних в </a:t>
            </a:r>
            <a:r>
              <a:rPr lang="en-US" dirty="0"/>
              <a:t>UART </a:t>
            </a:r>
            <a:r>
              <a:rPr lang="uk-UA" dirty="0"/>
              <a:t>драйвиться через </a:t>
            </a:r>
            <a:r>
              <a:rPr lang="en-US" dirty="0"/>
              <a:t>Push</a:t>
            </a:r>
            <a:r>
              <a:rPr lang="uk-UA" dirty="0"/>
              <a:t>-</a:t>
            </a:r>
            <a:r>
              <a:rPr lang="en-US" dirty="0"/>
              <a:t>Pull</a:t>
            </a:r>
            <a:r>
              <a:rPr lang="uk-UA" dirty="0"/>
              <a:t> тому не потребує додаткових підтягуючих резисторів!!!</a:t>
            </a:r>
            <a:endParaRPr lang="en-15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1A7E31-F276-F2C5-57BC-E88A70A2864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279576" y="5445224"/>
            <a:ext cx="1368152" cy="3224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2DC96ED-E8F5-EA04-2164-54442ABEA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52" y="1340768"/>
            <a:ext cx="7911110" cy="338437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4818E6-6CD0-7657-F2BB-D7A4BAE4533C}"/>
              </a:ext>
            </a:extLst>
          </p:cNvPr>
          <p:cNvSpPr txBox="1"/>
          <p:nvPr/>
        </p:nvSpPr>
        <p:spPr>
          <a:xfrm>
            <a:off x="8256240" y="1772816"/>
            <a:ext cx="39506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Дані між пристроями можуть передаватися в трьох режимах:</a:t>
            </a:r>
            <a:br>
              <a:rPr lang="en-US" dirty="0"/>
            </a:br>
            <a:r>
              <a:rPr lang="uk-UA" b="1" dirty="0"/>
              <a:t>1.</a:t>
            </a:r>
            <a:r>
              <a:rPr lang="en-150" b="1" dirty="0"/>
              <a:t>Simplex </a:t>
            </a:r>
            <a:r>
              <a:rPr lang="en-150" dirty="0"/>
              <a:t>- </a:t>
            </a:r>
            <a:r>
              <a:rPr lang="ru-RU" dirty="0"/>
              <a:t>Передача тільки в одному напрямку, від передавача до приймача.</a:t>
            </a:r>
          </a:p>
          <a:p>
            <a:r>
              <a:rPr lang="uk-UA" b="1" dirty="0"/>
              <a:t>2.</a:t>
            </a:r>
            <a:r>
              <a:rPr lang="en-150" b="1" dirty="0"/>
              <a:t>Half Duplex </a:t>
            </a:r>
            <a:r>
              <a:rPr lang="en-150" dirty="0"/>
              <a:t>- </a:t>
            </a:r>
            <a:r>
              <a:rPr lang="ru-RU" dirty="0"/>
              <a:t>Пристрої по черзі передають і приймають дані.</a:t>
            </a:r>
            <a:endParaRPr lang="uk-UA" dirty="0"/>
          </a:p>
          <a:p>
            <a:r>
              <a:rPr lang="uk-UA" b="1" dirty="0"/>
              <a:t>3.</a:t>
            </a:r>
            <a:r>
              <a:rPr lang="en-150" b="1" dirty="0"/>
              <a:t>Full Duplex </a:t>
            </a:r>
            <a:r>
              <a:rPr lang="en-150" dirty="0"/>
              <a:t>- </a:t>
            </a:r>
            <a:r>
              <a:rPr kumimoji="0" lang="en-150" altLang="en-150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Пристрої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можуть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передавати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і </a:t>
            </a:r>
            <a:r>
              <a:rPr kumimoji="0" lang="en-150" altLang="en-150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приймати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дані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одночасно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66899044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71661-9503-EDB4-2554-1534435F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Внутрішня структура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FAA022-024C-0BA4-EF7D-10671D166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383" y="1412775"/>
            <a:ext cx="5285929" cy="484799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C811FF-9950-AB2D-65BE-6313D57E274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799856" y="1448667"/>
            <a:ext cx="2880320" cy="6121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17BD3DF-BCB1-31E3-B965-2D08F69F3247}"/>
              </a:ext>
            </a:extLst>
          </p:cNvPr>
          <p:cNvSpPr/>
          <p:nvPr/>
        </p:nvSpPr>
        <p:spPr>
          <a:xfrm>
            <a:off x="7680176" y="1052623"/>
            <a:ext cx="3816424" cy="7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Пямять в якій знаходяться дані готові до передачі</a:t>
            </a:r>
            <a:endParaRPr lang="en-15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E799FA-6801-72F3-475C-F1F6699BF68A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2351584" y="5583651"/>
            <a:ext cx="5328592" cy="3358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3533C8-7411-A8D1-096F-116EAB4584EF}"/>
              </a:ext>
            </a:extLst>
          </p:cNvPr>
          <p:cNvSpPr/>
          <p:nvPr/>
        </p:nvSpPr>
        <p:spPr>
          <a:xfrm>
            <a:off x="7680176" y="3433485"/>
            <a:ext cx="3816424" cy="7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Пямять в якій знаходяться отримані дані</a:t>
            </a:r>
            <a:endParaRPr lang="en-1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D8FB4B-C500-34EC-DB6D-C477D69D875B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799856" y="3829529"/>
            <a:ext cx="2880320" cy="5355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81A4A94-4997-ADB9-6650-57B772C0C64F}"/>
              </a:ext>
            </a:extLst>
          </p:cNvPr>
          <p:cNvSpPr/>
          <p:nvPr/>
        </p:nvSpPr>
        <p:spPr>
          <a:xfrm>
            <a:off x="7680176" y="5523429"/>
            <a:ext cx="3816424" cy="7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Блок управління тактовим сигналом 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1587713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2CB0-908A-5DD2-5AAB-640B9BF3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Передача даних В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C97940-EAB0-64E1-8F9F-77C142FB5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263" y="1252597"/>
            <a:ext cx="6129059" cy="43528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D96088-D4CD-846B-D5C3-969C96235538}"/>
              </a:ext>
            </a:extLst>
          </p:cNvPr>
          <p:cNvSpPr txBox="1"/>
          <p:nvPr/>
        </p:nvSpPr>
        <p:spPr>
          <a:xfrm>
            <a:off x="5879976" y="1340768"/>
            <a:ext cx="62646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Ключлові елементи в пакеті даних </a:t>
            </a:r>
            <a:r>
              <a:rPr lang="en-US" dirty="0"/>
              <a:t>UART:</a:t>
            </a:r>
          </a:p>
          <a:p>
            <a:r>
              <a:rPr lang="en-US" b="1" dirty="0"/>
              <a:t>1. START </a:t>
            </a:r>
            <a:r>
              <a:rPr lang="en-US" dirty="0"/>
              <a:t>– </a:t>
            </a:r>
            <a:r>
              <a:rPr lang="uk-UA" dirty="0"/>
              <a:t>перший біт пакету даних, завжди дорівнює 0, за даним бітом визначається початок передачі даних.</a:t>
            </a:r>
            <a:br>
              <a:rPr lang="uk-UA" dirty="0"/>
            </a:br>
            <a:r>
              <a:rPr lang="uk-UA" b="1" dirty="0"/>
              <a:t>2.</a:t>
            </a:r>
            <a:r>
              <a:rPr lang="en-US" b="1" dirty="0"/>
              <a:t>DATA </a:t>
            </a:r>
            <a:r>
              <a:rPr lang="en-US" dirty="0"/>
              <a:t>– </a:t>
            </a:r>
            <a:r>
              <a:rPr lang="uk-UA" dirty="0"/>
              <a:t>дані що передаються.</a:t>
            </a:r>
            <a:br>
              <a:rPr lang="uk-UA" dirty="0"/>
            </a:br>
            <a:r>
              <a:rPr lang="uk-UA" b="1" dirty="0"/>
              <a:t>3.</a:t>
            </a:r>
            <a:r>
              <a:rPr lang="en-US" b="1" dirty="0"/>
              <a:t>PARITY </a:t>
            </a:r>
            <a:r>
              <a:rPr lang="en-US" dirty="0"/>
              <a:t>– </a:t>
            </a:r>
            <a:r>
              <a:rPr lang="uk-UA" dirty="0"/>
              <a:t>біт перевірки цілісності даних, цей біт є необов’язковим і може не використовуватися при передачі даних.</a:t>
            </a:r>
            <a:br>
              <a:rPr lang="uk-UA" dirty="0"/>
            </a:br>
            <a:r>
              <a:rPr lang="uk-UA" b="1" dirty="0"/>
              <a:t>4.</a:t>
            </a:r>
            <a:r>
              <a:rPr lang="en-US" b="1" dirty="0"/>
              <a:t>STOP </a:t>
            </a:r>
            <a:r>
              <a:rPr lang="en-US" dirty="0"/>
              <a:t>– </a:t>
            </a:r>
            <a:r>
              <a:rPr lang="uk-UA" dirty="0"/>
              <a:t>останній біт пакету даних, завжди дорівнює 1, за даним бітом визначається кінець передачі даних.</a:t>
            </a:r>
            <a:endParaRPr lang="en-150" b="1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F74A0A6-53FC-0548-CF50-3ECD9536D2A9}"/>
              </a:ext>
            </a:extLst>
          </p:cNvPr>
          <p:cNvSpPr/>
          <p:nvPr/>
        </p:nvSpPr>
        <p:spPr>
          <a:xfrm rot="5400000">
            <a:off x="2675620" y="1528870"/>
            <a:ext cx="288032" cy="2952328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72CFA-542D-15AF-E049-BF3EF13723FC}"/>
              </a:ext>
            </a:extLst>
          </p:cNvPr>
          <p:cNvSpPr txBox="1"/>
          <p:nvPr/>
        </p:nvSpPr>
        <p:spPr>
          <a:xfrm>
            <a:off x="2436646" y="3146825"/>
            <a:ext cx="765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  <a:endParaRPr lang="en-150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EB8B33F5-1008-4881-F084-EF9684A1A318}"/>
              </a:ext>
            </a:extLst>
          </p:cNvPr>
          <p:cNvSpPr/>
          <p:nvPr/>
        </p:nvSpPr>
        <p:spPr>
          <a:xfrm rot="5400000">
            <a:off x="2675620" y="3985222"/>
            <a:ext cx="288032" cy="2952328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BC987-80AE-54B6-511A-6689A7408688}"/>
              </a:ext>
            </a:extLst>
          </p:cNvPr>
          <p:cNvSpPr txBox="1"/>
          <p:nvPr/>
        </p:nvSpPr>
        <p:spPr>
          <a:xfrm>
            <a:off x="2436646" y="5603177"/>
            <a:ext cx="765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7774717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EE8D-779B-F207-E965-C803019B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Передача даних В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8B7A54-507C-E086-EC46-043E7F42A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1" y="1340768"/>
            <a:ext cx="5772897" cy="172819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48F4AC-0EE8-7F46-C3CD-C8F9C9055110}"/>
              </a:ext>
            </a:extLst>
          </p:cNvPr>
          <p:cNvSpPr txBox="1"/>
          <p:nvPr/>
        </p:nvSpPr>
        <p:spPr>
          <a:xfrm>
            <a:off x="5879976" y="1340768"/>
            <a:ext cx="62646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Окрім одного </a:t>
            </a:r>
            <a:r>
              <a:rPr lang="en-US" b="1" dirty="0"/>
              <a:t>STOP</a:t>
            </a:r>
            <a:r>
              <a:rPr lang="en-US" dirty="0"/>
              <a:t> </a:t>
            </a:r>
            <a:r>
              <a:rPr lang="uk-UA" dirty="0"/>
              <a:t>біта в </a:t>
            </a:r>
            <a:r>
              <a:rPr lang="en-US" dirty="0"/>
              <a:t>UART</a:t>
            </a:r>
            <a:r>
              <a:rPr lang="uk-UA" dirty="0"/>
              <a:t> може використовуватися </a:t>
            </a:r>
            <a:r>
              <a:rPr lang="uk-UA" b="1" dirty="0"/>
              <a:t>2</a:t>
            </a:r>
            <a:r>
              <a:rPr lang="uk-UA" dirty="0"/>
              <a:t> або </a:t>
            </a:r>
            <a:r>
              <a:rPr lang="uk-UA" b="1" dirty="0"/>
              <a:t>1.5 </a:t>
            </a:r>
            <a:r>
              <a:rPr lang="en-US" b="1" dirty="0"/>
              <a:t>STOP </a:t>
            </a:r>
            <a:r>
              <a:rPr lang="uk-UA" dirty="0"/>
              <a:t>біта. </a:t>
            </a:r>
            <a:br>
              <a:rPr lang="uk-UA" dirty="0"/>
            </a:br>
            <a:r>
              <a:rPr lang="uk-UA" dirty="0"/>
              <a:t>Під час </a:t>
            </a:r>
            <a:r>
              <a:rPr lang="en-US" b="1" dirty="0"/>
              <a:t>STOP</a:t>
            </a:r>
            <a:r>
              <a:rPr lang="uk-UA" dirty="0"/>
              <a:t> біта девайс проводить підготовку до отримання наступних даних (інтерпретація отриманих, перевірка парності), на великих швидкостях девайсу може бути недостатньо тривалості 1біта для підготовки, тому на великих швидкостях використовується </a:t>
            </a:r>
            <a:r>
              <a:rPr lang="uk-UA" b="1" dirty="0"/>
              <a:t>1.5 </a:t>
            </a:r>
            <a:r>
              <a:rPr lang="en-US" b="1" dirty="0"/>
              <a:t>STOP </a:t>
            </a:r>
            <a:r>
              <a:rPr lang="uk-UA" dirty="0"/>
              <a:t>біта для зібльшення часу на підготовку девайсу (зупинка передачі даних все ще вихначається тільки за одним бітом, інші пів біта використовуються тільки для затримки).</a:t>
            </a:r>
            <a:br>
              <a:rPr lang="uk-UA" dirty="0"/>
            </a:br>
            <a:r>
              <a:rPr lang="uk-UA" dirty="0"/>
              <a:t>З цією ж метою можуть використовуватися </a:t>
            </a:r>
            <a:r>
              <a:rPr lang="uk-UA" b="1" dirty="0"/>
              <a:t>2</a:t>
            </a:r>
            <a:r>
              <a:rPr lang="en-US" b="1" dirty="0"/>
              <a:t> STOP</a:t>
            </a:r>
            <a:r>
              <a:rPr lang="uk-UA" b="1" dirty="0"/>
              <a:t> </a:t>
            </a:r>
            <a:r>
              <a:rPr lang="uk-UA" dirty="0"/>
              <a:t>біта, проте в цьому є інша перевага, коли використовується </a:t>
            </a:r>
            <a:r>
              <a:rPr lang="en-US" dirty="0"/>
              <a:t>2 </a:t>
            </a:r>
            <a:r>
              <a:rPr lang="en-US" b="1" dirty="0"/>
              <a:t>STOP</a:t>
            </a:r>
            <a:r>
              <a:rPr lang="uk-UA" dirty="0"/>
              <a:t> біта це додткова перевірка коректності переданих даних, якщо хочаб один </a:t>
            </a:r>
            <a:r>
              <a:rPr lang="en-US" b="1" dirty="0"/>
              <a:t>STOP</a:t>
            </a:r>
            <a:r>
              <a:rPr lang="uk-UA" dirty="0"/>
              <a:t> біт з двох дорівнює 0 пристрій визначає що були передані некоректно.</a:t>
            </a:r>
            <a:endParaRPr lang="en-15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0B63E6F-AD3F-CF2C-DF5B-254F5D6C0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993" y="3429000"/>
            <a:ext cx="5772255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596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9AED-5D66-56DB-2097-273D7117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Передача даних В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BAC51-BB04-B0B3-5CF9-8FEB18EFF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44" y="1196752"/>
            <a:ext cx="5772255" cy="172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C99901-9275-3EB7-F06C-F6C001E4A041}"/>
              </a:ext>
            </a:extLst>
          </p:cNvPr>
          <p:cNvSpPr txBox="1"/>
          <p:nvPr/>
        </p:nvSpPr>
        <p:spPr>
          <a:xfrm>
            <a:off x="5879977" y="1268760"/>
            <a:ext cx="63120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PARYTI</a:t>
            </a:r>
            <a:r>
              <a:rPr lang="en-US" dirty="0"/>
              <a:t> </a:t>
            </a:r>
            <a:r>
              <a:rPr lang="uk-UA" dirty="0"/>
              <a:t>біт дозволяє приймаючому </a:t>
            </a:r>
            <a:r>
              <a:rPr lang="en-US" dirty="0"/>
              <a:t>UART </a:t>
            </a:r>
            <a:r>
              <a:rPr lang="uk-UA" dirty="0"/>
              <a:t>визначити, чи відбулися зміни в даних під час передачі. Зміни в бітах можуть виникати через електромагнітне випромінювання, невідповідність швидкостей передачі або передачу даних на великі відстані. Після зчитування кадру даних приймаючий </a:t>
            </a:r>
            <a:r>
              <a:rPr lang="en-US" dirty="0"/>
              <a:t>UART </a:t>
            </a:r>
            <a:r>
              <a:rPr lang="uk-UA" dirty="0"/>
              <a:t>підраховує кількість бітів зі значенням 1 і перевіряє, чи є їхня кількість парною або непарною. Якщо </a:t>
            </a:r>
            <a:r>
              <a:rPr lang="en-US" b="1" dirty="0"/>
              <a:t>PARYTI</a:t>
            </a:r>
            <a:r>
              <a:rPr lang="en-US" dirty="0"/>
              <a:t> </a:t>
            </a:r>
            <a:r>
              <a:rPr lang="uk-UA" dirty="0"/>
              <a:t>біт дорівнює 0 (парна парність), кількість одиничних бітів у кадрі даних повинна бути парною. Якщо </a:t>
            </a:r>
            <a:r>
              <a:rPr lang="en-US" b="1" dirty="0"/>
              <a:t>PARYTI</a:t>
            </a:r>
            <a:r>
              <a:rPr lang="en-US" dirty="0"/>
              <a:t> </a:t>
            </a:r>
            <a:r>
              <a:rPr lang="uk-UA" dirty="0"/>
              <a:t>біт дорівнює 1 (непарна парність), кількість одиничних бітів повинна бути непарною. Коли біт парності відповідає даним, </a:t>
            </a:r>
            <a:r>
              <a:rPr lang="en-US" dirty="0"/>
              <a:t>UART </a:t>
            </a:r>
            <a:r>
              <a:rPr lang="uk-UA" dirty="0"/>
              <a:t>вважає, що передача відбулася без помилок. Якщо ж </a:t>
            </a:r>
            <a:r>
              <a:rPr lang="en-US" b="1" dirty="0"/>
              <a:t>PARYTI</a:t>
            </a:r>
            <a:r>
              <a:rPr lang="en-US" dirty="0"/>
              <a:t> </a:t>
            </a:r>
            <a:r>
              <a:rPr lang="uk-UA" dirty="0"/>
              <a:t>біт дорівнює 0, а загальна кількість одиничних бітів є непарною; або </a:t>
            </a:r>
            <a:r>
              <a:rPr lang="en-US" b="1" dirty="0"/>
              <a:t>PARYTI</a:t>
            </a:r>
            <a:r>
              <a:rPr lang="en-US" dirty="0"/>
              <a:t> </a:t>
            </a:r>
            <a:r>
              <a:rPr lang="uk-UA" dirty="0"/>
              <a:t>біт дорівнює 1, а загальна кількість одиничних бітів є парною, </a:t>
            </a:r>
            <a:r>
              <a:rPr lang="en-US" dirty="0"/>
              <a:t>UART </a:t>
            </a:r>
            <a:r>
              <a:rPr lang="uk-UA" dirty="0"/>
              <a:t>визначає, що в пакеті даних відбулися зміни.</a:t>
            </a:r>
            <a:endParaRPr lang="en-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6CE3D-3C30-F469-5AC8-70A862642047}"/>
              </a:ext>
            </a:extLst>
          </p:cNvPr>
          <p:cNvSpPr txBox="1"/>
          <p:nvPr/>
        </p:nvSpPr>
        <p:spPr>
          <a:xfrm>
            <a:off x="467999" y="2924752"/>
            <a:ext cx="52679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Приклад перевірки парності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DATA = 01100011 </a:t>
            </a:r>
            <a:br>
              <a:rPr lang="en-US" dirty="0"/>
            </a:br>
            <a:r>
              <a:rPr lang="uk-UA" dirty="0"/>
              <a:t>Кількість одиничних бітів = 4, дані є парними а отже </a:t>
            </a:r>
            <a:r>
              <a:rPr lang="en-US" b="1" dirty="0"/>
              <a:t>PARYTI</a:t>
            </a:r>
            <a:r>
              <a:rPr lang="en-US" dirty="0"/>
              <a:t> </a:t>
            </a:r>
            <a:r>
              <a:rPr lang="uk-UA" dirty="0"/>
              <a:t>біт = 0</a:t>
            </a:r>
            <a:br>
              <a:rPr lang="en-US" dirty="0"/>
            </a:b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76708211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7AD1-62E8-FE80-76A5-87B76103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Передача даних В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B3D1912-6281-0197-685A-AE32756CD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3552" y="1555795"/>
            <a:ext cx="2965102" cy="2387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4FBAF9-5E89-4C50-930C-4D4A6DBC184F}"/>
              </a:ext>
            </a:extLst>
          </p:cNvPr>
          <p:cNvSpPr txBox="1"/>
          <p:nvPr/>
        </p:nvSpPr>
        <p:spPr>
          <a:xfrm>
            <a:off x="2063552" y="1220915"/>
            <a:ext cx="2099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PARYTI Generator</a:t>
            </a:r>
            <a:endParaRPr lang="en-1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B27A2-A38D-76A2-237F-AE49B01320A0}"/>
              </a:ext>
            </a:extLst>
          </p:cNvPr>
          <p:cNvSpPr txBox="1"/>
          <p:nvPr/>
        </p:nvSpPr>
        <p:spPr>
          <a:xfrm>
            <a:off x="7680176" y="1170102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PARYTI Check</a:t>
            </a:r>
            <a:endParaRPr lang="en-150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EAF38DCE-2605-5723-12F2-E8B59E171C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2064" y="1590247"/>
            <a:ext cx="3869014" cy="23868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CD22762-1314-EF7A-F3E7-8006D344E3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08180" y="4108805"/>
            <a:ext cx="3417225" cy="23868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36B7A096-0BB1-BE44-7E81-4B0B50F4F3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3082" y="4108805"/>
            <a:ext cx="4216330" cy="23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6761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F2FC-6E89-0F18-A063-9D856C6C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Передача даних В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CD72B-403C-7397-6C24-8939EDC10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367" y="1628800"/>
            <a:ext cx="4732433" cy="19442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96474F-4C35-E1E3-D023-C3E7C1D259E1}"/>
              </a:ext>
            </a:extLst>
          </p:cNvPr>
          <p:cNvSpPr txBox="1"/>
          <p:nvPr/>
        </p:nvSpPr>
        <p:spPr>
          <a:xfrm>
            <a:off x="5256156" y="1052736"/>
            <a:ext cx="69152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Оскільки в </a:t>
            </a:r>
            <a:r>
              <a:rPr lang="en-US" dirty="0"/>
              <a:t>UART</a:t>
            </a:r>
            <a:r>
              <a:rPr lang="uk-UA" dirty="0"/>
              <a:t> немає зовнішнього тактового сигналу</a:t>
            </a:r>
            <a:r>
              <a:rPr lang="en-US" dirty="0"/>
              <a:t>,</a:t>
            </a:r>
            <a:r>
              <a:rPr lang="uk-UA" dirty="0"/>
              <a:t> для синхронізації для даних використовується </a:t>
            </a:r>
            <a:r>
              <a:rPr lang="en-US" b="1" dirty="0"/>
              <a:t>B</a:t>
            </a:r>
            <a:r>
              <a:rPr lang="uk-UA" b="1" dirty="0"/>
              <a:t>а</a:t>
            </a:r>
            <a:r>
              <a:rPr lang="en-US" b="1" dirty="0" err="1"/>
              <a:t>ud</a:t>
            </a:r>
            <a:r>
              <a:rPr lang="en-US" b="1" dirty="0"/>
              <a:t> Rate</a:t>
            </a:r>
            <a:r>
              <a:rPr lang="uk-UA" dirty="0"/>
              <a:t>, який задається внутрішнім тактовим генератором та у випадку з </a:t>
            </a:r>
            <a:r>
              <a:rPr lang="en-US" dirty="0"/>
              <a:t>UART </a:t>
            </a:r>
            <a:r>
              <a:rPr lang="uk-UA" dirty="0"/>
              <a:t>буде рівним 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Bit rate (bps)</a:t>
            </a:r>
            <a:r>
              <a:rPr lang="uk-UA" b="1" dirty="0">
                <a:solidFill>
                  <a:srgbClr val="333333"/>
                </a:solidFill>
                <a:latin typeface="Bio Sans"/>
              </a:rPr>
              <a:t>.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Проте якщо ми хочемо визначити швидкість передачі байтів то це необхідно розраховувати наступним чином</a:t>
            </a:r>
            <a:r>
              <a:rPr lang="en-US" dirty="0">
                <a:solidFill>
                  <a:srgbClr val="333333"/>
                </a:solidFill>
                <a:latin typeface="Bio Sans"/>
              </a:rPr>
              <a:t>:</a:t>
            </a:r>
            <a:br>
              <a:rPr lang="en-US" dirty="0">
                <a:solidFill>
                  <a:srgbClr val="333333"/>
                </a:solidFill>
                <a:latin typeface="Bio Sans"/>
              </a:rPr>
            </a:br>
            <a:r>
              <a:rPr lang="en-US" b="1" dirty="0">
                <a:solidFill>
                  <a:srgbClr val="333333"/>
                </a:solidFill>
                <a:latin typeface="Bio Sans"/>
              </a:rPr>
              <a:t>Byte/s 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= Bit rate (bps) / Number of bits per unit data</a:t>
            </a:r>
            <a:br>
              <a:rPr lang="uk-UA" b="1" i="0" dirty="0">
                <a:solidFill>
                  <a:srgbClr val="333333"/>
                </a:solidFill>
                <a:effectLst/>
                <a:latin typeface="Bio Sans"/>
              </a:rPr>
            </a:b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- 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Bit rate (bps)</a:t>
            </a: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 </a:t>
            </a:r>
            <a:r>
              <a:rPr lang="uk-UA" i="0" dirty="0">
                <a:solidFill>
                  <a:srgbClr val="333333"/>
                </a:solidFill>
                <a:effectLst/>
                <a:latin typeface="Bio Sans"/>
              </a:rPr>
              <a:t>–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швидкість з якою надсилається один біт     інформації </a:t>
            </a:r>
            <a:br>
              <a:rPr lang="uk-UA" dirty="0">
                <a:solidFill>
                  <a:srgbClr val="333333"/>
                </a:solidFill>
                <a:latin typeface="Bio Sans"/>
              </a:rPr>
            </a:br>
            <a:br>
              <a:rPr lang="uk-UA" i="0" dirty="0">
                <a:solidFill>
                  <a:srgbClr val="333333"/>
                </a:solidFill>
                <a:effectLst/>
                <a:latin typeface="Bio Sans"/>
              </a:rPr>
            </a:br>
            <a:r>
              <a:rPr lang="uk-UA" i="0" dirty="0">
                <a:solidFill>
                  <a:srgbClr val="333333"/>
                </a:solidFill>
                <a:effectLst/>
                <a:latin typeface="Bio Sans"/>
              </a:rPr>
              <a:t>Для прикладу якщо ми хочемо передавати восьми бітні дані тоді 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Number of bits per unit data </a:t>
            </a: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= 10 </a:t>
            </a:r>
            <a:r>
              <a:rPr lang="uk-UA" i="0" dirty="0">
                <a:solidFill>
                  <a:srgbClr val="333333"/>
                </a:solidFill>
                <a:effectLst/>
                <a:latin typeface="Bio Sans"/>
              </a:rPr>
              <a:t>(оскільки 8 біт на дані + </a:t>
            </a:r>
            <a:r>
              <a:rPr lang="en-US" i="0" dirty="0">
                <a:solidFill>
                  <a:srgbClr val="333333"/>
                </a:solidFill>
                <a:effectLst/>
                <a:latin typeface="Bio Sans"/>
              </a:rPr>
              <a:t>START </a:t>
            </a:r>
            <a:r>
              <a:rPr lang="uk-UA" i="0" dirty="0">
                <a:solidFill>
                  <a:srgbClr val="333333"/>
                </a:solidFill>
                <a:effectLst/>
                <a:latin typeface="Bio Sans"/>
              </a:rPr>
              <a:t>і </a:t>
            </a:r>
            <a:r>
              <a:rPr lang="en-US" dirty="0">
                <a:solidFill>
                  <a:srgbClr val="333333"/>
                </a:solidFill>
                <a:latin typeface="Bio Sans"/>
              </a:rPr>
              <a:t>STOP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 біти</a:t>
            </a:r>
            <a:r>
              <a:rPr lang="uk-UA" i="0" dirty="0">
                <a:solidFill>
                  <a:srgbClr val="333333"/>
                </a:solidFill>
                <a:effectLst/>
                <a:latin typeface="Bio Sans"/>
              </a:rPr>
              <a:t>), 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Bit rate </a:t>
            </a: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= 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9600 (bps</a:t>
            </a: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) </a:t>
            </a:r>
            <a:r>
              <a:rPr lang="uk-UA" i="0" dirty="0">
                <a:solidFill>
                  <a:srgbClr val="333333"/>
                </a:solidFill>
                <a:effectLst/>
                <a:latin typeface="Bio Sans"/>
              </a:rPr>
              <a:t>в такому випадку швидкість з якою ми передаємо дані</a:t>
            </a: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Byte/s 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=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96</a:t>
            </a: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00</a:t>
            </a:r>
            <a:endParaRPr lang="en-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0218C-0B5E-43D2-9AD1-2F09BED4A01F}"/>
              </a:ext>
            </a:extLst>
          </p:cNvPr>
          <p:cNvSpPr txBox="1"/>
          <p:nvPr/>
        </p:nvSpPr>
        <p:spPr>
          <a:xfrm>
            <a:off x="263352" y="5157192"/>
            <a:ext cx="11017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Оскільки внутрішній тактовий генератор у кожному пристрої буде мати похибку, для коректної передачі інформації тривалість одного біта</a:t>
            </a:r>
            <a:r>
              <a:rPr lang="en-US" dirty="0"/>
              <a:t>(</a:t>
            </a:r>
            <a:r>
              <a:rPr lang="en-US" b="1" dirty="0" err="1"/>
              <a:t>tx</a:t>
            </a:r>
            <a:r>
              <a:rPr lang="en-US" dirty="0"/>
              <a:t>)</a:t>
            </a:r>
            <a:r>
              <a:rPr lang="uk-UA" dirty="0"/>
              <a:t> повинна дорівнювати наступному:</a:t>
            </a:r>
            <a:r>
              <a:rPr lang="en-US" dirty="0"/>
              <a:t> </a:t>
            </a:r>
            <a:r>
              <a:rPr lang="en-US" b="1" dirty="0" err="1"/>
              <a:t>tx</a:t>
            </a:r>
            <a:r>
              <a:rPr lang="en-US" b="1" dirty="0"/>
              <a:t> &gt; 1/ 2*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Baud Rate</a:t>
            </a:r>
            <a:r>
              <a:rPr lang="uk-UA" b="1" i="0" dirty="0">
                <a:solidFill>
                  <a:srgbClr val="333333"/>
                </a:solidFill>
                <a:effectLst/>
                <a:latin typeface="Bio Sans"/>
              </a:rPr>
              <a:t>.</a:t>
            </a:r>
            <a:r>
              <a:rPr lang="en-US" b="1" i="0" dirty="0">
                <a:solidFill>
                  <a:srgbClr val="333333"/>
                </a:solidFill>
                <a:effectLst/>
                <a:latin typeface="Bio Sans"/>
              </a:rPr>
              <a:t> </a:t>
            </a:r>
            <a:br>
              <a:rPr lang="en-US" b="1" i="0" dirty="0">
                <a:solidFill>
                  <a:srgbClr val="333333"/>
                </a:solidFill>
                <a:effectLst/>
                <a:latin typeface="Bio Sans"/>
              </a:rPr>
            </a:br>
            <a:br>
              <a:rPr lang="uk-UA" dirty="0"/>
            </a:b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45774067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DE67-9C29-F2B9-38F5-3E4725E7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BB0E-04B5-1B65-5439-2B328000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Передача даних В </a:t>
            </a:r>
            <a:r>
              <a:rPr lang="en-US" dirty="0"/>
              <a:t>UART</a:t>
            </a:r>
            <a:endParaRPr lang="en-15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9BDC2EB-A4CD-A6F3-9819-8270B565A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666200"/>
              </p:ext>
            </p:extLst>
          </p:nvPr>
        </p:nvGraphicFramePr>
        <p:xfrm>
          <a:off x="1271464" y="1340768"/>
          <a:ext cx="3323746" cy="504055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75355">
                  <a:extLst>
                    <a:ext uri="{9D8B030D-6E8A-4147-A177-3AD203B41FA5}">
                      <a16:colId xmlns:a16="http://schemas.microsoft.com/office/drawing/2014/main" val="4102981813"/>
                    </a:ext>
                  </a:extLst>
                </a:gridCol>
                <a:gridCol w="946234">
                  <a:extLst>
                    <a:ext uri="{9D8B030D-6E8A-4147-A177-3AD203B41FA5}">
                      <a16:colId xmlns:a16="http://schemas.microsoft.com/office/drawing/2014/main" val="2778302165"/>
                    </a:ext>
                  </a:extLst>
                </a:gridCol>
                <a:gridCol w="902157">
                  <a:extLst>
                    <a:ext uri="{9D8B030D-6E8A-4147-A177-3AD203B41FA5}">
                      <a16:colId xmlns:a16="http://schemas.microsoft.com/office/drawing/2014/main" val="2760482735"/>
                    </a:ext>
                  </a:extLst>
                </a:gridCol>
              </a:tblGrid>
              <a:tr h="3989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Bauds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Bits/s</a:t>
                      </a:r>
                      <a:r>
                        <a:rPr lang="uk-UA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(bps)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Bit duration(</a:t>
                      </a:r>
                      <a:r>
                        <a:rPr lang="en-US" sz="1000" u="none" strike="noStrike" dirty="0" err="1">
                          <a:effectLst/>
                        </a:rPr>
                        <a:t>tx</a:t>
                      </a:r>
                      <a:r>
                        <a:rPr lang="en-US" sz="1000" u="none" strike="noStrike" dirty="0">
                          <a:effectLst/>
                        </a:rPr>
                        <a:t>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62965"/>
                  </a:ext>
                </a:extLst>
              </a:tr>
              <a:tr h="20591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20.000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2666417451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75 bauds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75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13.333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2874046480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110 bauds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110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9.091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2434554843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134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134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7.463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4115139332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150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150 bits/s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6.667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1850359505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200 bits/s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5.000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851874624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300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300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3.333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1619620467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600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600 bits/s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1.667 ms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3853301651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1200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1200 bits/s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833.333 µs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3869078757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1800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1800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555.556 µs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1529224368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2400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2400 bits/s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416.667 µs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2145356127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4800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4800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208.333 µs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763878166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9600 bauds</a:t>
                      </a:r>
                      <a:endParaRPr lang="en-US" sz="1000" b="1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9600 bits/s</a:t>
                      </a:r>
                      <a:endParaRPr lang="en-US" sz="1000" b="1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104.167 µs</a:t>
                      </a:r>
                      <a:endParaRPr lang="en-US" sz="1000" b="1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1193296677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19200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19200 bits/s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52.083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2076776985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28800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28800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34.722 µs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636791089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38400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38400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26.042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1787749080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57600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57600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17.361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2727278657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76800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76800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13.021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3990866190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115200 bauds</a:t>
                      </a:r>
                      <a:endParaRPr lang="en-US" sz="1000" b="1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115200 bits/s</a:t>
                      </a:r>
                      <a:endParaRPr lang="en-US" sz="1000" b="1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8.681 µs</a:t>
                      </a:r>
                      <a:endParaRPr lang="en-US" sz="1000" b="1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578075396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230400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230400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4.340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1530079429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460800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460800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2.170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337504534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576000 bauds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576000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1.736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2633455472"/>
                  </a:ext>
                </a:extLst>
              </a:tr>
              <a:tr h="2016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921600 bauds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921600 bits/s</a:t>
                      </a:r>
                      <a:endParaRPr lang="en-US" sz="1000" b="0" i="0" u="none" strike="noStrike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1.085 µs</a:t>
                      </a:r>
                      <a:endParaRPr lang="en-US" sz="1000" b="0" i="0" u="none" strike="noStrike" dirty="0">
                        <a:solidFill>
                          <a:srgbClr val="21252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606" marR="1606" marT="1606" marB="0" anchor="ctr"/>
                </a:tc>
                <a:extLst>
                  <a:ext uri="{0D108BD9-81ED-4DB2-BD59-A6C34878D82A}">
                    <a16:rowId xmlns:a16="http://schemas.microsoft.com/office/drawing/2014/main" val="8264109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622AC3-B0E7-04D1-7583-20E654F0BCE9}"/>
              </a:ext>
            </a:extLst>
          </p:cNvPr>
          <p:cNvSpPr txBox="1"/>
          <p:nvPr/>
        </p:nvSpPr>
        <p:spPr>
          <a:xfrm>
            <a:off x="5087888" y="1268760"/>
            <a:ext cx="655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Швидкість передачі даних в </a:t>
            </a:r>
            <a:r>
              <a:rPr lang="en-US" dirty="0"/>
              <a:t>UART</a:t>
            </a:r>
            <a:r>
              <a:rPr lang="uk-UA" dirty="0"/>
              <a:t> є стандартизованою і необхідне значення можна знайти в наведеній таблиці 🤫</a:t>
            </a:r>
            <a:endParaRPr lang="en-150" dirty="0"/>
          </a:p>
        </p:txBody>
      </p:sp>
      <p:pic>
        <p:nvPicPr>
          <p:cNvPr id="1026" name="Picture 2" descr="Кот показывает большой палец вверх на чистом белом фоне | Премиум Фото">
            <a:extLst>
              <a:ext uri="{FF2B5EF4-FFF2-40B4-BE49-F238E27FC236}">
                <a16:creationId xmlns:a16="http://schemas.microsoft.com/office/drawing/2014/main" id="{45F46E1C-4238-E5D4-710C-9CE77F93D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07"/>
          <a:stretch/>
        </p:blipFill>
        <p:spPr bwMode="auto">
          <a:xfrm>
            <a:off x="6960096" y="2433637"/>
            <a:ext cx="1716816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21095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E0A3-31B1-5C11-88DB-6372A9B8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Контроль прийому</a:t>
            </a:r>
            <a:r>
              <a:rPr lang="en-US" dirty="0"/>
              <a:t>/</a:t>
            </a:r>
            <a:r>
              <a:rPr lang="uk-UA" dirty="0"/>
              <a:t>передачі даних </a:t>
            </a:r>
            <a:r>
              <a:rPr lang="en-US" dirty="0"/>
              <a:t>UART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502509-E3DF-0F9A-DCFF-1C865ADD7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1484784"/>
            <a:ext cx="4143375" cy="13716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6FA09B-E4BD-06EB-4BF1-3B084A5B5ACB}"/>
              </a:ext>
            </a:extLst>
          </p:cNvPr>
          <p:cNvSpPr txBox="1"/>
          <p:nvPr/>
        </p:nvSpPr>
        <p:spPr>
          <a:xfrm>
            <a:off x="5663952" y="1337320"/>
            <a:ext cx="64112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333333"/>
                </a:solidFill>
                <a:latin typeface="Bio Sans"/>
              </a:rPr>
              <a:t>Для зменшення втрати пакетів в </a:t>
            </a:r>
            <a:r>
              <a:rPr lang="en-US" dirty="0">
                <a:solidFill>
                  <a:srgbClr val="333333"/>
                </a:solidFill>
                <a:latin typeface="Bio Sans"/>
              </a:rPr>
              <a:t>UART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є додатковий вхід </a:t>
            </a:r>
            <a:r>
              <a:rPr lang="uk-UA" b="1" dirty="0">
                <a:solidFill>
                  <a:srgbClr val="333333"/>
                </a:solidFill>
                <a:latin typeface="Bio Sans"/>
              </a:rPr>
              <a:t>С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TS(</a:t>
            </a:r>
            <a:r>
              <a:rPr lang="en-US" b="1" dirty="0"/>
              <a:t>Clear to Send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)</a:t>
            </a:r>
            <a:r>
              <a:rPr lang="uk-UA" b="1" dirty="0">
                <a:solidFill>
                  <a:srgbClr val="333333"/>
                </a:solidFill>
                <a:latin typeface="Bio Sans"/>
              </a:rPr>
              <a:t>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та вихід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RTS(</a:t>
            </a:r>
            <a:r>
              <a:rPr lang="en-US" b="1" dirty="0"/>
              <a:t>Request to Send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). </a:t>
            </a:r>
            <a:br>
              <a:rPr lang="en-US" b="1" dirty="0">
                <a:solidFill>
                  <a:srgbClr val="333333"/>
                </a:solidFill>
                <a:latin typeface="Bio Sans"/>
              </a:rPr>
            </a:br>
            <a:r>
              <a:rPr lang="uk-UA" dirty="0">
                <a:solidFill>
                  <a:srgbClr val="333333"/>
                </a:solidFill>
                <a:latin typeface="Bio Sans"/>
              </a:rPr>
              <a:t>Перед передачею даних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DEVICE#1</a:t>
            </a:r>
            <a:r>
              <a:rPr lang="uk-UA" b="1" dirty="0">
                <a:solidFill>
                  <a:srgbClr val="333333"/>
                </a:solidFill>
                <a:latin typeface="Bio Sans"/>
              </a:rPr>
              <a:t>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перевіряє сигнал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CTS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, якщо він у низькому рівні то він виставляє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RTS</a:t>
            </a:r>
            <a:r>
              <a:rPr lang="en-US" dirty="0">
                <a:solidFill>
                  <a:srgbClr val="333333"/>
                </a:solidFill>
                <a:latin typeface="Bio Sans"/>
              </a:rPr>
              <a:t>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у високий сигналізуючи для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DEVICE#2</a:t>
            </a:r>
            <a:r>
              <a:rPr lang="uk-UA" b="1" dirty="0">
                <a:solidFill>
                  <a:srgbClr val="333333"/>
                </a:solidFill>
                <a:latin typeface="Bio Sans"/>
              </a:rPr>
              <a:t>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початок передачі даних.</a:t>
            </a:r>
            <a:br>
              <a:rPr lang="uk-UA" dirty="0">
                <a:solidFill>
                  <a:srgbClr val="333333"/>
                </a:solidFill>
                <a:latin typeface="Bio Sans"/>
              </a:rPr>
            </a:br>
            <a:r>
              <a:rPr lang="uk-UA" dirty="0">
                <a:solidFill>
                  <a:srgbClr val="333333"/>
                </a:solidFill>
                <a:latin typeface="Bio Sans"/>
              </a:rPr>
              <a:t>До поки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DEVICE#1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не перестане передавати дані та не опустить сигнал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RTS</a:t>
            </a:r>
            <a:r>
              <a:rPr lang="en-US" dirty="0">
                <a:solidFill>
                  <a:srgbClr val="333333"/>
                </a:solidFill>
                <a:latin typeface="Bio Sans"/>
              </a:rPr>
              <a:t>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до низького рівня, </a:t>
            </a:r>
            <a:r>
              <a:rPr lang="en-US" b="1" dirty="0">
                <a:solidFill>
                  <a:srgbClr val="333333"/>
                </a:solidFill>
                <a:latin typeface="Bio Sans"/>
              </a:rPr>
              <a:t>DEVICE#2</a:t>
            </a:r>
            <a:r>
              <a:rPr lang="en-US" dirty="0">
                <a:solidFill>
                  <a:srgbClr val="333333"/>
                </a:solidFill>
                <a:latin typeface="Bio Sans"/>
              </a:rPr>
              <a:t> 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не зможе передвати дані (тільки приймає</a:t>
            </a:r>
            <a:r>
              <a:rPr lang="en-US" dirty="0">
                <a:solidFill>
                  <a:srgbClr val="333333"/>
                </a:solidFill>
                <a:latin typeface="Bio Sans"/>
              </a:rPr>
              <a:t> :0</a:t>
            </a:r>
            <a:r>
              <a:rPr lang="uk-UA" dirty="0">
                <a:solidFill>
                  <a:srgbClr val="333333"/>
                </a:solidFill>
                <a:latin typeface="Bio Sans"/>
              </a:rPr>
              <a:t>).</a:t>
            </a:r>
            <a:endParaRPr lang="en-15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ED632D8-22CA-3A0B-9454-652CAC097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08" y="2856384"/>
            <a:ext cx="4598277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6765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1EAE-CA76-6890-135B-96A92FFE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Підсумки по </a:t>
            </a:r>
            <a:r>
              <a:rPr lang="en-US" dirty="0"/>
              <a:t>UART</a:t>
            </a:r>
            <a:endParaRPr lang="en-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C46FF-1A0D-6358-9102-C5A1F6125BBC}"/>
              </a:ext>
            </a:extLst>
          </p:cNvPr>
          <p:cNvSpPr txBox="1"/>
          <p:nvPr/>
        </p:nvSpPr>
        <p:spPr>
          <a:xfrm>
            <a:off x="462579" y="1268760"/>
            <a:ext cx="11521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UART (</a:t>
            </a:r>
            <a:r>
              <a:rPr lang="uk-UA" dirty="0"/>
              <a:t>універсальний асинхронний приймач-передавач) є одним із найпоширеніших послідовних комунікаційних інтерфейсів в електроніці. Цей інтерфейс вирізняється своєю простотою та надійністю, використовуючи лише дві лінії зв'язку — </a:t>
            </a:r>
            <a:r>
              <a:rPr lang="en-US" dirty="0"/>
              <a:t>Rx </a:t>
            </a:r>
            <a:r>
              <a:rPr lang="uk-UA" dirty="0"/>
              <a:t>для прийому та </a:t>
            </a:r>
            <a:r>
              <a:rPr lang="en-US" dirty="0"/>
              <a:t>Tx </a:t>
            </a:r>
            <a:r>
              <a:rPr lang="uk-UA" dirty="0"/>
              <a:t>для передачі даних.</a:t>
            </a:r>
          </a:p>
          <a:p>
            <a:r>
              <a:rPr lang="en-US" dirty="0"/>
              <a:t>UART </a:t>
            </a:r>
            <a:r>
              <a:rPr lang="uk-UA" dirty="0"/>
              <a:t>працює асинхронно, що означає відсутність спеціальної лінії синхронізації, натомість пристрої синхронізуються через попередньо узгоджену швидкість передачі (</a:t>
            </a:r>
            <a:r>
              <a:rPr lang="en-US" dirty="0"/>
              <a:t>Baud Rate).</a:t>
            </a:r>
            <a:endParaRPr lang="uk-UA" dirty="0"/>
          </a:p>
          <a:p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3BB18-8D13-0D29-4E61-3453735A2DF8}"/>
              </a:ext>
            </a:extLst>
          </p:cNvPr>
          <p:cNvSpPr txBox="1"/>
          <p:nvPr/>
        </p:nvSpPr>
        <p:spPr>
          <a:xfrm>
            <a:off x="6439243" y="2846513"/>
            <a:ext cx="60969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Недоліки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Нижча швидкість порівняно з </a:t>
            </a:r>
            <a:r>
              <a:rPr lang="en-US" dirty="0"/>
              <a:t>SPI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Потребує узгодження швидкості передачі на обох пристроях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Обмежена відстань передачі даних без додаткових драйверів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50A1A-A510-374C-5CA9-F5D4B34B6091}"/>
              </a:ext>
            </a:extLst>
          </p:cNvPr>
          <p:cNvSpPr txBox="1"/>
          <p:nvPr/>
        </p:nvSpPr>
        <p:spPr>
          <a:xfrm>
            <a:off x="407368" y="2846513"/>
            <a:ext cx="59766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Ключові особливості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Асинхронний послідовний інтерфейс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Використовує лише дві лінії: </a:t>
            </a:r>
            <a:r>
              <a:rPr lang="en-US" dirty="0"/>
              <a:t>Rx (</a:t>
            </a:r>
            <a:r>
              <a:rPr lang="uk-UA" dirty="0"/>
              <a:t>приймання) та </a:t>
            </a:r>
          </a:p>
          <a:p>
            <a:r>
              <a:rPr lang="en-US" dirty="0"/>
              <a:t>Tx (</a:t>
            </a:r>
            <a:r>
              <a:rPr lang="uk-UA" dirty="0"/>
              <a:t>передача)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Підтримує три режими: </a:t>
            </a:r>
            <a:r>
              <a:rPr lang="en-US" dirty="0"/>
              <a:t>Simplex, Half Duplex, </a:t>
            </a:r>
            <a:endParaRPr lang="uk-UA" dirty="0"/>
          </a:p>
          <a:p>
            <a:r>
              <a:rPr lang="en-US" dirty="0"/>
              <a:t>Full Duplex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Стандартизовані швидкості передачі </a:t>
            </a:r>
          </a:p>
          <a:p>
            <a:r>
              <a:rPr lang="uk-UA" b="1" dirty="0"/>
              <a:t>Переваги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Простота реалізації та низька вартість впровадження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Широка підтримка в мікроконтролерах та обчислювальних системах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Додатковий контроль потоку даних через </a:t>
            </a:r>
            <a:r>
              <a:rPr lang="en-US" dirty="0"/>
              <a:t>RTS/CTS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Виявлення помилок через </a:t>
            </a:r>
            <a:r>
              <a:rPr lang="en-US" dirty="0"/>
              <a:t>PARITY </a:t>
            </a:r>
            <a:r>
              <a:rPr lang="uk-UA" dirty="0"/>
              <a:t>біт</a:t>
            </a:r>
          </a:p>
        </p:txBody>
      </p:sp>
    </p:spTree>
    <p:extLst>
      <p:ext uri="{BB962C8B-B14F-4D97-AF65-F5344CB8AC3E}">
        <p14:creationId xmlns:p14="http://schemas.microsoft.com/office/powerpoint/2010/main" val="328344845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D737A5-6BDA-4496-BFA2-48EC8B9E9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0000" y="1412776"/>
            <a:ext cx="5280000" cy="300339"/>
          </a:xfrm>
        </p:spPr>
        <p:txBody>
          <a:bodyPr/>
          <a:lstStyle/>
          <a:p>
            <a:r>
              <a:rPr lang="en-US" altLang="ja-JP" dirty="0"/>
              <a:t>Renesas.com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DF933AFDC72644BEC2DD4A66F8588E" ma:contentTypeVersion="28" ma:contentTypeDescription="Create a new document." ma:contentTypeScope="" ma:versionID="3dd8df1517bf577a475a4dfa29d7bfdf">
  <xsd:schema xmlns:xsd="http://www.w3.org/2001/XMLSchema" xmlns:xs="http://www.w3.org/2001/XMLSchema" xmlns:p="http://schemas.microsoft.com/office/2006/metadata/properties" xmlns:ns2="084dd9f6-50cb-4ac1-978b-315f52073de3" xmlns:ns3="e45712e8-6429-47e4-bf94-5d5d0cff5b2d" xmlns:ns4="c24288ec-b664-4237-bfbf-b4d897279037" targetNamespace="http://schemas.microsoft.com/office/2006/metadata/properties" ma:root="true" ma:fieldsID="8bae32201aecd5b4bbcca88f6431800b" ns2:_="" ns3:_="" ns4:_="">
    <xsd:import namespace="084dd9f6-50cb-4ac1-978b-315f52073de3"/>
    <xsd:import namespace="e45712e8-6429-47e4-bf94-5d5d0cff5b2d"/>
    <xsd:import namespace="c24288ec-b664-4237-bfbf-b4d897279037"/>
    <xsd:element name="properties">
      <xsd:complexType>
        <xsd:sequence>
          <xsd:element name="documentManagement">
            <xsd:complexType>
              <xsd:all>
                <xsd:element ref="ns2:PublishingStartDate" minOccurs="0"/>
                <xsd:element ref="ns2:PublishingExpirationDat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dd9f6-50cb-4ac1-978b-315f52073de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format="DateTime" ma:internalName="PublishingStartDate" ma:readOnly="fals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format="DateTime" ma:internalName="PublishingExpirationDate" ma:readOnly="false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31f0850-98f7-4372-8aa8-4aaf7edce8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712e8-6429-47e4-bf94-5d5d0cff5b2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4288ec-b664-4237-bfbf-b4d897279037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4fdab1bc-26b5-407e-99d0-649d445c7cd6}" ma:internalName="TaxCatchAll" ma:showField="CatchAllData" ma:web="e45712e8-6429-47e4-bf94-5d5d0cff5b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084dd9f6-50cb-4ac1-978b-315f52073de3" xsi:nil="true"/>
    <PublishingStartDate xmlns="084dd9f6-50cb-4ac1-978b-315f52073de3" xsi:nil="true"/>
    <lcf76f155ced4ddcb4097134ff3c332f xmlns="084dd9f6-50cb-4ac1-978b-315f52073de3">
      <Terms xmlns="http://schemas.microsoft.com/office/infopath/2007/PartnerControls"/>
    </lcf76f155ced4ddcb4097134ff3c332f>
    <TaxCatchAll xmlns="c24288ec-b664-4237-bfbf-b4d897279037" xsi:nil="true"/>
  </documentManagement>
</p:properties>
</file>

<file path=customXml/itemProps1.xml><?xml version="1.0" encoding="utf-8"?>
<ds:datastoreItem xmlns:ds="http://schemas.openxmlformats.org/officeDocument/2006/customXml" ds:itemID="{B66FD1DD-1A8E-4762-87CD-B3639EDAE8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4dd9f6-50cb-4ac1-978b-315f52073de3"/>
    <ds:schemaRef ds:uri="e45712e8-6429-47e4-bf94-5d5d0cff5b2d"/>
    <ds:schemaRef ds:uri="c24288ec-b664-4237-bfbf-b4d897279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3BE601-7F02-4240-9AF6-86A6A55D9A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71853E-0EF3-4973-AB23-17AA5798BB6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84dd9f6-50cb-4ac1-978b-315f52073de3"/>
    <ds:schemaRef ds:uri="http://purl.org/dc/elements/1.1/"/>
    <ds:schemaRef ds:uri="http://schemas.microsoft.com/office/2006/metadata/properties"/>
    <ds:schemaRef ds:uri="http://schemas.microsoft.com/office/2006/documentManagement/types"/>
    <ds:schemaRef ds:uri="e45712e8-6429-47e4-bf94-5d5d0cff5b2d"/>
    <ds:schemaRef ds:uri="http://www.w3.org/XML/1998/namespace"/>
    <ds:schemaRef ds:uri="c24288ec-b664-4237-bfbf-b4d89727903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a_EN_conf_2025_Renesas_PPTtemp</Template>
  <TotalTime>3179</TotalTime>
  <Words>1426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Narrow</vt:lpstr>
      <vt:lpstr>Bio Sans</vt:lpstr>
      <vt:lpstr>Calibri</vt:lpstr>
      <vt:lpstr>Segoe UI</vt:lpstr>
      <vt:lpstr>Symbol</vt:lpstr>
      <vt:lpstr>Wingdings</vt:lpstr>
      <vt:lpstr>Renesas Template 2022 - EN Confidential</vt:lpstr>
      <vt:lpstr>PowerPoint Presentation</vt:lpstr>
      <vt:lpstr>UART інтрфейс</vt:lpstr>
      <vt:lpstr>UART інтрфейс</vt:lpstr>
      <vt:lpstr>Приклад використання UART</vt:lpstr>
      <vt:lpstr>Внутрішня структура UART</vt:lpstr>
      <vt:lpstr>Передача даних В UART</vt:lpstr>
      <vt:lpstr>Передача даних В UART</vt:lpstr>
      <vt:lpstr>Передача даних В UART</vt:lpstr>
      <vt:lpstr>Передача даних В UART</vt:lpstr>
      <vt:lpstr>Передача даних В UART</vt:lpstr>
      <vt:lpstr>Передача даних В UART</vt:lpstr>
      <vt:lpstr>Контроль прийому/передачі даних UART</vt:lpstr>
      <vt:lpstr>Підсумки по UART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Olesia Uhrynovych</dc:creator>
  <cp:lastModifiedBy>Ruslan Tykhovetskyi</cp:lastModifiedBy>
  <cp:revision>5</cp:revision>
  <dcterms:created xsi:type="dcterms:W3CDTF">2024-12-12T13:59:23Z</dcterms:created>
  <dcterms:modified xsi:type="dcterms:W3CDTF">2025-03-13T14:17:38Z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0x010100ACDF933AFDC72644BEC2DD4A66F8588E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</Properties>
</file>